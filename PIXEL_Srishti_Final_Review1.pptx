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 GIS Workflow (Hours)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Data Ingestion</c:v>
                </c:pt>
                <c:pt idx="1">
                  <c:v>Feature Extraction</c:v>
                </c:pt>
                <c:pt idx="2">
                  <c:v>Change Detection</c:v>
                </c:pt>
                <c:pt idx="3">
                  <c:v>Report Generation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4.0</c:v>
                </c:pt>
                <c:pt idx="1">
                  <c:v>12.0</c:v>
                </c:pt>
                <c:pt idx="2">
                  <c:v>8.0</c:v>
                </c:pt>
                <c:pt idx="3">
                  <c:v>3.0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PIXEL-Srishti Automation (Hours)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Data Ingestion</c:v>
                </c:pt>
                <c:pt idx="1">
                  <c:v>Feature Extraction</c:v>
                </c:pt>
                <c:pt idx="2">
                  <c:v>Change Detection</c:v>
                </c:pt>
                <c:pt idx="3">
                  <c:v>Report Generation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</c:v>
                </c:pt>
                <c:pt idx="1">
                  <c:v>0.5</c:v>
                </c:pt>
                <c:pt idx="2">
                  <c:v>0.3</c:v>
                </c:pt>
                <c:pt idx="3">
                  <c:v>0.1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(INR)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GPU Compute (Cloud)</c:v>
                </c:pt>
                <c:pt idx="1">
                  <c:v>Hardware Peripherals</c:v>
                </c:pt>
                <c:pt idx="2">
                  <c:v>Expert Consultation</c:v>
                </c:pt>
                <c:pt idx="3">
                  <c:v>Satellite Data</c:v>
                </c:pt>
                <c:pt idx="4">
                  <c:v>Miscellaneous</c:v>
                </c:pt>
                <c:pt idx="5">
                  <c:v>Storage</c:v>
                </c:pt>
                <c:pt idx="6">
                  <c:v>Software APIs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45000</c:v>
                </c:pt>
                <c:pt idx="1">
                  <c:v>15000</c:v>
                </c:pt>
                <c:pt idx="2">
                  <c:v>12000</c:v>
                </c:pt>
                <c:pt idx="3">
                  <c:v>10000</c:v>
                </c:pt>
                <c:pt idx="4">
                  <c:v>10000</c:v>
                </c:pt>
                <c:pt idx="5">
                  <c:v>8000</c:v>
                </c:pt>
                <c:pt idx="6">
                  <c:v>5000</c:v>
                </c:pt>
              </c:numCache>
            </c:numRef>
          </c:val>
        </c:ser>
      </c:pieChart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7200">
                <a:solidFill>
                  <a:srgbClr val="F1F5F9"/>
                </a:solidFill>
              </a:defRPr>
            </a:pPr>
            <a:r>
              <a:t>PIXEL-Srishti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8BDF8"/>
                </a:solidFill>
              </a:defRPr>
            </a:pPr>
            <a:r>
              <a:t>An Agentic Geospatial AI Assistant for Multi-Sensor Satellite Image Analysis</a:t>
            </a:r>
            <a:br/>
            <a:r>
              <a:t>and Watershed Development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1F5F9"/>
                </a:solidFill>
              </a:defRPr>
            </a:pPr>
            <a:r>
              <a:t>Team: JALDI THE LATE</a:t>
            </a:r>
            <a:br/>
            <a:r>
              <a:t>Ministry of Rural Development &amp; ISRO–SAC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E293B"/>
                </a:solidFill>
              </a:defRPr>
            </a:pPr>
            <a:r>
              <a:t>1. The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1E293B"/>
                </a:solidFill>
              </a:defRPr>
            </a:pPr>
            <a:r>
              <a:t>Currently, satellite image analysis tools are highly fragmented and built for single tasks:</a:t>
            </a:r>
          </a:p>
          <a:p>
            <a:pPr>
              <a:defRPr sz="2000">
                <a:solidFill>
                  <a:srgbClr val="1E293B"/>
                </a:solidFill>
              </a:defRPr>
            </a:pP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- Siloed Capabilities: One tool classifies land types, another spots changes, another handles VQA.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- Technical Barrier: Combining Optical, Multispectral, and SAR data requires specialized GIS training.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- The Gap: Organizations like ISRO collect massive amounts of high-quality data (SRISHTI-DRISHTI), but it sits unused because field teams lack automated, natural-language tools to convert raw data into insights.</a:t>
            </a:r>
          </a:p>
          <a:p>
            <a:pPr>
              <a:defRPr sz="2000">
                <a:solidFill>
                  <a:srgbClr val="1E293B"/>
                </a:solidFill>
              </a:defRPr>
            </a:pP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Consequence: Decision-makers lack fast, clear answers about land use, drainage, and water body changes.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E293B"/>
                </a:solidFill>
              </a:defRPr>
            </a:pPr>
            <a:r>
              <a:t>2. Convergence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1E293B"/>
                </a:solidFill>
              </a:defRPr>
            </a:pPr>
            <a:r>
              <a:t>The core gap is the absence of an intelligent, query-driven interpretation layer between raw satellite imagery and field-level decisions.</a:t>
            </a:r>
          </a:p>
          <a:p>
            <a:pPr>
              <a:defRPr sz="2000">
                <a:solidFill>
                  <a:srgbClr val="1E293B"/>
                </a:solidFill>
              </a:defRPr>
            </a:pP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PIXEL-Srishti introduces a general-purpose Agentic Remote-Sensing Assistant. While watershed monitoring is the flagship real-world application, the underlying architecture builds the reusable, multi-task AI backbone required by the SatQuery AI mandate.</a:t>
            </a:r>
          </a:p>
          <a:p>
            <a:pPr>
              <a:defRPr sz="2000">
                <a:solidFill>
                  <a:srgbClr val="1E293B"/>
                </a:solidFill>
              </a:defRPr>
            </a:pP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Keywords: Agentic VLM, Multimodal Analysis, Optical-SAR Pairs, VQA, GIS-Free Decision 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E293B"/>
                </a:solidFill>
              </a:defRPr>
            </a:pPr>
            <a:r>
              <a:t>3. Solution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1E293B"/>
                </a:solidFill>
              </a:defRPr>
            </a:pPr>
            <a:r>
              <a:t>- Agentic Vision-Language System: Answers queries over single images, optical-SAR pairs, and bi-temporal series.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- Domain Grounding: Fine-tuning on BigEarthNet, VRSBench, RSVQA, and CDVQA for accurate, auditable outputs.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- Automated Thematic Mapping: Instantly generates land-use, drainage, and vegetation maps from 30m resolution data.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- Spatial Change Detection: Identifies new water-conservation structures and vegetation recovery over time.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- Orchestration Layer: Automatically selects the correct specialist ML model based on the user's plain-English query.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1F5F9"/>
                </a:solidFill>
              </a:defRPr>
            </a:pPr>
            <a:r>
              <a:t>4. System Architecture (4-Layer Framework)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286000" cy="4114800"/>
          </a:xfrm>
          <a:prstGeom prst="roundRect">
            <a:avLst/>
          </a:prstGeom>
          <a:solidFill>
            <a:srgbClr val="47556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1. Data Ingestion</a:t>
            </a:r>
            <a:br/>
            <a:br/>
            <a:r>
              <a:t>GeoTIFF/TIFF</a:t>
            </a:r>
            <a:br/>
            <a:r>
              <a:t>Optical, SAR,</a:t>
            </a:r>
            <a:br/>
            <a:r>
              <a:t>Multispectral</a:t>
            </a:r>
            <a:br/>
            <a:br/>
            <a:r>
              <a:t>SRISHTI-DRISHTI Tiles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91840" y="3657600"/>
            <a:ext cx="365760" cy="27432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749039" y="1828800"/>
            <a:ext cx="2286000" cy="4114800"/>
          </a:xfrm>
          <a:prstGeom prst="roundRect">
            <a:avLst/>
          </a:prstGeom>
          <a:solidFill>
            <a:srgbClr val="2563EB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2. Agentic Controller</a:t>
            </a:r>
            <a:br/>
            <a:br/>
            <a:r>
              <a:t>LLM-based Router</a:t>
            </a:r>
            <a:br/>
            <a:r>
              <a:t>LangGraph pattern</a:t>
            </a:r>
            <a:br/>
            <a:br/>
            <a:r>
              <a:t>Interprets intent</a:t>
            </a:r>
            <a:br/>
            <a:r>
              <a:t>Checks modality</a:t>
            </a:r>
            <a:br/>
            <a:r>
              <a:t>Routes to models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6126480" y="3657600"/>
            <a:ext cx="365760" cy="27432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0" y="1371600"/>
            <a:ext cx="2743200" cy="914400"/>
          </a:xfrm>
          <a:prstGeom prst="roundRect">
            <a:avLst/>
          </a:prstGeom>
          <a:solidFill>
            <a:srgbClr val="38BDF8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Remote-Sensing VQA / Caption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468880"/>
            <a:ext cx="2743200" cy="914400"/>
          </a:xfrm>
          <a:prstGeom prst="roundRect">
            <a:avLst/>
          </a:prstGeom>
          <a:solidFill>
            <a:srgbClr val="38BDF8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Text-Guided Grounding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566160"/>
            <a:ext cx="2743200" cy="914400"/>
          </a:xfrm>
          <a:prstGeom prst="roundRect">
            <a:avLst/>
          </a:prstGeom>
          <a:solidFill>
            <a:srgbClr val="38BDF8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Bi-Temporal Change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663440"/>
            <a:ext cx="2743200" cy="914400"/>
          </a:xfrm>
          <a:prstGeom prst="roundRect">
            <a:avLst/>
          </a:prstGeom>
          <a:solidFill>
            <a:srgbClr val="38BDF8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Watershed Segmentation (U-Net)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5760720"/>
            <a:ext cx="2743200" cy="914400"/>
          </a:xfrm>
          <a:prstGeom prst="roundRect">
            <a:avLst/>
          </a:prstGeom>
          <a:solidFill>
            <a:srgbClr val="38BDF8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Optical-SAR Fusion Model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418320" y="3657600"/>
            <a:ext cx="365760" cy="27432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75520" y="1828800"/>
            <a:ext cx="1828800" cy="4114800"/>
          </a:xfrm>
          <a:prstGeom prst="roundRect">
            <a:avLst/>
          </a:prstGeom>
          <a:solidFill>
            <a:srgbClr val="47556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4. Presentation Layer</a:t>
            </a:r>
            <a:br/>
            <a:br/>
            <a:r>
              <a:t>React Web GUI</a:t>
            </a:r>
            <a:br/>
            <a:r>
              <a:t>Interactive Maps</a:t>
            </a:r>
            <a:br/>
            <a:r>
              <a:t>Change Overlays</a:t>
            </a:r>
            <a:br/>
            <a:r>
              <a:t>Execution Traces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E293B"/>
                </a:solidFill>
              </a:defRPr>
            </a:pPr>
            <a:r>
              <a:t>5. Impact: GIS Processing Time Reduction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1E293B"/>
                </a:solidFill>
              </a:defRPr>
            </a:pPr>
            <a:r>
              <a:t>PIXEL-Srishti fundamentally shifts the bottleneck from manual execution to automated inference.</a:t>
            </a:r>
          </a:p>
          <a:p>
            <a:pPr>
              <a:defRPr sz="2000">
                <a:solidFill>
                  <a:srgbClr val="1E293B"/>
                </a:solidFill>
              </a:defRPr>
            </a:pP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By allowing field planners to use natural language, tasks that previously required data downloading, co-registration, and manual GIS mapping are executed instantly.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217920" y="1371600"/>
          <a:ext cx="5486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E293B"/>
                </a:solidFill>
              </a:defRPr>
            </a:pPr>
            <a:r>
              <a:t>6. Feasibility &amp;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1. Risk: Limited GPU time for fine-tuning multiple models.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   Mitigation: Use parameter-efficient fine-tuning (LoRA/QLoRA) on pre-trained backbones.</a:t>
            </a:r>
          </a:p>
          <a:p>
            <a:pPr>
              <a:defRPr sz="1800">
                <a:solidFill>
                  <a:srgbClr val="1E293B"/>
                </a:solidFill>
              </a:defRPr>
            </a:pP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2. Risk: Scarcity of labelled watershed-specific ground truth.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   Mitigation: Bootstrap labels from existing geo-tagged field photographs and SRISHTI-DRISHTI thematic layers.</a:t>
            </a:r>
          </a:p>
          <a:p>
            <a:pPr>
              <a:defRPr sz="1800">
                <a:solidFill>
                  <a:srgbClr val="1E293B"/>
                </a:solidFill>
              </a:defRPr>
            </a:pP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3. Risk: Agentic controller mis-routing queries.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   Mitigation: Constrain tool registry with strict input-compatibility checks and log auditable traces.</a:t>
            </a:r>
          </a:p>
          <a:p>
            <a:pPr>
              <a:defRPr sz="1800">
                <a:solidFill>
                  <a:srgbClr val="1E293B"/>
                </a:solidFill>
              </a:defRPr>
            </a:pP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4. Risk: Cloud cover affecting optical imagery.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   Mitigation: SAR fusion pathway provides all-weather, day-and-night fallback.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E293B"/>
                </a:solidFill>
              </a:defRPr>
            </a:pPr>
            <a:r>
              <a:t>7. Expected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1E293B"/>
                </a:solidFill>
              </a:defRPr>
            </a:pPr>
            <a:r>
              <a:t>- Instant Actionable Insights: A working web application replacing weeks of manual interpretation.</a:t>
            </a:r>
          </a:p>
          <a:p>
            <a:pPr>
              <a:defRPr sz="2000">
                <a:solidFill>
                  <a:srgbClr val="1E293B"/>
                </a:solidFill>
              </a:defRPr>
            </a:pP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- Automated Thematic Maps: Direct extraction of land use, drainage, and vegetation from 30m satellite data.</a:t>
            </a:r>
          </a:p>
          <a:p>
            <a:pPr>
              <a:defRPr sz="2000">
                <a:solidFill>
                  <a:srgbClr val="1E293B"/>
                </a:solidFill>
              </a:defRPr>
            </a:pP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- Reusable Backbone: The agentic framework satisfies the SatQuery AI mandate and can be redeployed for disaster management and urban planning.</a:t>
            </a:r>
          </a:p>
          <a:p>
            <a:pPr>
              <a:defRPr sz="2000">
                <a:solidFill>
                  <a:srgbClr val="1E293B"/>
                </a:solidFill>
              </a:defRPr>
            </a:pP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- Transparency &amp; Auditing: Every answer ships with an auditable execution trace (models used, confidence scores), suitable for government administrative 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E293B"/>
                </a:solidFill>
              </a:defRPr>
            </a:pPr>
            <a:r>
              <a:t>8. Budget Estimate &amp; Future Scope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029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Future Scope: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- Extend framework to crop-yield estimation and flood mapping without redesigning the controller.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- Integrate with state/district Watershed Management Information Systems.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- Mobile-first interface for field engineers with limited connectivity.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- Incorporate IoT soil-moisture feeds for data fusion.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